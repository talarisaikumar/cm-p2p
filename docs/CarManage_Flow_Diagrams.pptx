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CarManage (CM-P2P)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Customer &amp; Owner Flow Diagrams</a:t>
            </a:r>
          </a:p>
          <a:p>
            <a:pPr>
              <a:defRPr sz="1600">
                <a:solidFill>
                  <a:srgbClr val="64748B"/>
                </a:solidFill>
              </a:defRPr>
            </a:pPr>
            <a:r>
              <a:t>Peer-to-peer car rental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Roles: CUSTOMER and OWNER only (no admin console)</a:t>
            </a:r>
          </a:p>
          <a:p>
            <a:pPr>
              <a:spcAft>
                <a:spcPts val="800"/>
              </a:spcAft>
              <a:defRPr sz="1800"/>
            </a:pPr>
            <a:r>
              <a:t>Stack: Go/Gin API + Next.js frontend + PostgreSQL</a:t>
            </a:r>
          </a:p>
          <a:p>
            <a:pPr>
              <a:spcAft>
                <a:spcPts val="800"/>
              </a:spcAft>
              <a:defRPr sz="1800"/>
            </a:pPr>
            <a:r>
              <a:t>Payments: 75% deposit, then post-trip charges, then final balance</a:t>
            </a:r>
          </a:p>
          <a:p>
            <a:pPr>
              <a:spcAft>
                <a:spcPts val="800"/>
              </a:spcAft>
              <a:defRPr sz="1800"/>
            </a:pPr>
            <a:r>
              <a:t>Pricing: Negotiated per-day rate × inclusive trip days + platform fees/GST</a:t>
            </a:r>
          </a:p>
          <a:p>
            <a:pPr>
              <a:spcAft>
                <a:spcPts val="800"/>
              </a:spcAft>
              <a:defRPr sz="1800"/>
            </a:pPr>
            <a:r>
              <a:t>Docs: docs/CUSTOMER_FLOW.md and docs/OWNER_FLOW.md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Booking Status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PENDING → customer creates inquiry</a:t>
            </a:r>
          </a:p>
          <a:p>
            <a:pPr>
              <a:spcAft>
                <a:spcPts val="800"/>
              </a:spcAft>
              <a:defRPr sz="1800"/>
            </a:pPr>
            <a:r>
              <a:t>NEGOTIATING → chat / price discussion</a:t>
            </a:r>
          </a:p>
          <a:p>
            <a:pPr>
              <a:spcAft>
                <a:spcPts val="800"/>
              </a:spcAft>
              <a:defRPr sz="1800"/>
            </a:pPr>
            <a:r>
              <a:t>CONFIRMED → customer accepted price + owner confirmed</a:t>
            </a:r>
          </a:p>
          <a:p>
            <a:pPr>
              <a:spcAft>
                <a:spcPts val="800"/>
              </a:spcAft>
              <a:defRPr sz="1800"/>
            </a:pPr>
            <a:r>
              <a:t>COMPLETED → owner accepted return after full payment</a:t>
            </a:r>
          </a:p>
          <a:p>
            <a:pPr>
              <a:spcAft>
                <a:spcPts val="800"/>
              </a:spcAft>
              <a:defRPr sz="1800"/>
            </a:pPr>
            <a:r>
              <a:t>CANCELLED → withdraw, cancel, or unpaid cancel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Payment States (on CONFIRMED)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UNPAID → customer pays 75% deposit</a:t>
            </a:r>
          </a:p>
          <a:p>
            <a:pPr>
              <a:spcAft>
                <a:spcPts val="800"/>
              </a:spcAft>
              <a:defRPr sz="1800"/>
            </a:pPr>
            <a:r>
              <a:t>DEPOSIT_PAID → trip handover begins</a:t>
            </a:r>
          </a:p>
          <a:p>
            <a:pPr>
              <a:spcAft>
                <a:spcPts val="800"/>
              </a:spcAft>
              <a:defRPr sz="1800"/>
            </a:pPr>
            <a:r>
              <a:t>FINAL_DUE → owner submitted post-trip charges</a:t>
            </a:r>
          </a:p>
          <a:p>
            <a:pPr>
              <a:spcAft>
                <a:spcPts val="800"/>
              </a:spcAft>
              <a:defRPr sz="1800"/>
            </a:pPr>
            <a:r>
              <a:t>PAID → customer paid final balance; owner can accept return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E3A5F"/>
                </a:solidFill>
              </a:defRPr>
            </a:pPr>
            <a:r>
              <a:t>Customer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46304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Register +</a:t>
            </a:r>
            <a:br/>
            <a:r>
              <a:t>KYC + License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1097280"/>
            <a:ext cx="146304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Search &amp;</a:t>
            </a:r>
            <a:br/>
            <a:r>
              <a:t>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097280"/>
            <a:ext cx="146304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Negotiate</a:t>
            </a:r>
            <a:br/>
            <a:r>
              <a:t>(Chat)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097280"/>
            <a:ext cx="146304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Accept</a:t>
            </a:r>
            <a:br/>
            <a:r>
              <a:t>Price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097280"/>
            <a:ext cx="146304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Pay 75%</a:t>
            </a:r>
            <a:br/>
            <a:r>
              <a:t>Deposit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146304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Pickup</a:t>
            </a:r>
            <a:br/>
            <a:r>
              <a:t>Check-in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2560320"/>
            <a:ext cx="146304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On</a:t>
            </a:r>
            <a:br/>
            <a:r>
              <a:t>Trip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2560320"/>
            <a:ext cx="146304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Return</a:t>
            </a:r>
            <a:br/>
            <a:r>
              <a:t>Vehicle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560320"/>
            <a:ext cx="146304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Pay Final</a:t>
            </a:r>
            <a:br/>
            <a:r>
              <a:t>Balance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2560320"/>
            <a:ext cx="146304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Review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65960" y="1325880"/>
            <a:ext cx="182879" cy="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11879" y="1325880"/>
            <a:ext cx="182880" cy="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257800" y="1325880"/>
            <a:ext cx="182880" cy="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03720" y="1325880"/>
            <a:ext cx="182880" cy="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914400" y="1600200"/>
            <a:ext cx="6858000" cy="73152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965960" y="2788920"/>
            <a:ext cx="182879" cy="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611879" y="2788920"/>
            <a:ext cx="182880" cy="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57800" y="2788920"/>
            <a:ext cx="182880" cy="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E3A5F"/>
                </a:solidFill>
              </a:defRPr>
            </a:pPr>
            <a:r>
              <a:t>Owner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46304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Register +</a:t>
            </a:r>
            <a:br/>
            <a:r>
              <a:t>KYC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1097280"/>
            <a:ext cx="146304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Fleet:</a:t>
            </a:r>
            <a:br/>
            <a:r>
              <a:t>Add 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097280"/>
            <a:ext cx="146304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Booking</a:t>
            </a:r>
            <a:br/>
            <a:r>
              <a:t>Request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097280"/>
            <a:ext cx="146304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Set Price &amp;</a:t>
            </a:r>
            <a:br/>
            <a:r>
              <a:t>Confirm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097280"/>
            <a:ext cx="146304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Vehicle</a:t>
            </a:r>
            <a:br/>
            <a:r>
              <a:t>Handover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2560320"/>
            <a:ext cx="146304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Post-Trip</a:t>
            </a:r>
            <a:br/>
            <a:r>
              <a:t>Charges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2560320"/>
            <a:ext cx="146304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Accept</a:t>
            </a:r>
            <a:br/>
            <a:r>
              <a:t>Return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2560320"/>
            <a:ext cx="146304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Payout</a:t>
            </a:r>
            <a:br/>
            <a:r>
              <a:t>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2560320"/>
            <a:ext cx="146304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Review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65960" y="1325880"/>
            <a:ext cx="182879" cy="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611879" y="1325880"/>
            <a:ext cx="182880" cy="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257800" y="1325880"/>
            <a:ext cx="182880" cy="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03720" y="1325880"/>
            <a:ext cx="182880" cy="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560320" y="1600200"/>
            <a:ext cx="5212080" cy="73152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11879" y="2788920"/>
            <a:ext cx="182880" cy="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257800" y="2788920"/>
            <a:ext cx="182880" cy="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>
                <a:solidFill>
                  <a:srgbClr val="1E3A5F"/>
                </a:solidFill>
              </a:defRPr>
            </a:pPr>
            <a:r>
              <a:t>Combined Booking Lifecycle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2377440" cy="411480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Customer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08760"/>
            <a:ext cx="237744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Inquiry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03120"/>
            <a:ext cx="237744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Accept price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697480"/>
            <a:ext cx="237744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75% deposit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291840"/>
            <a:ext cx="237744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Pickup/Return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886200"/>
            <a:ext cx="237744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Final pay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480560"/>
            <a:ext cx="237744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914400"/>
            <a:ext cx="2377440" cy="411480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508760"/>
            <a:ext cx="2377440" cy="457200"/>
          </a:xfrm>
          <a:prstGeom prst="roundRect">
            <a:avLst/>
          </a:prstGeom>
          <a:solidFill>
            <a:srgbClr val="64748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Overlap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103120"/>
            <a:ext cx="2377440" cy="457200"/>
          </a:xfrm>
          <a:prstGeom prst="roundRect">
            <a:avLst/>
          </a:prstGeom>
          <a:solidFill>
            <a:srgbClr val="64748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Fees &amp; GST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697480"/>
            <a:ext cx="2377440" cy="457200"/>
          </a:xfrm>
          <a:prstGeom prst="roundRect">
            <a:avLst/>
          </a:prstGeom>
          <a:solidFill>
            <a:srgbClr val="64748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Settlement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3291840"/>
            <a:ext cx="2377440" cy="457200"/>
          </a:xfrm>
          <a:prstGeom prst="roundRect">
            <a:avLst/>
          </a:prstGeom>
          <a:solidFill>
            <a:srgbClr val="64748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Payment 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3886200"/>
            <a:ext cx="2377440" cy="457200"/>
          </a:xfrm>
          <a:prstGeom prst="roundRect">
            <a:avLst/>
          </a:prstGeom>
          <a:solidFill>
            <a:srgbClr val="64748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Complete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914400"/>
            <a:ext cx="2377440" cy="411480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Owner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508760"/>
            <a:ext cx="237744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Set price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2103120"/>
            <a:ext cx="237744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Confirm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2697480"/>
            <a:ext cx="237744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Handover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3291840"/>
            <a:ext cx="237744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Post-trip charges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3886200"/>
            <a:ext cx="237744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Accept return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4480560"/>
            <a:ext cx="237744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Calculations — Customer Total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Trip days = inclusive UTC calendar days (min 1)</a:t>
            </a:r>
          </a:p>
          <a:p>
            <a:pPr>
              <a:spcAft>
                <a:spcPts val="800"/>
              </a:spcAft>
              <a:defRPr sz="1800"/>
            </a:pPr>
            <a:r>
              <a:t>Agreed base = FinalBookingPrice × trip days</a:t>
            </a:r>
          </a:p>
          <a:p>
            <a:pPr>
              <a:spcAft>
                <a:spcPts val="800"/>
              </a:spcAft>
              <a:defRPr sz="1800"/>
            </a:pPr>
            <a:r>
              <a:t>Customer commission = agreed base × 2% (configurable)</a:t>
            </a:r>
          </a:p>
          <a:p>
            <a:pPr>
              <a:spcAft>
                <a:spcPts val="800"/>
              </a:spcAft>
              <a:defRPr sz="1800"/>
            </a:pPr>
            <a:r>
              <a:t>Customer GST = (agreed base + commission) × 18%</a:t>
            </a:r>
          </a:p>
          <a:p>
            <a:pPr>
              <a:spcAft>
                <a:spcPts val="800"/>
              </a:spcAft>
              <a:defRPr sz="1800"/>
            </a:pPr>
            <a:r>
              <a:t>Customer total = base + commission + GST</a:t>
            </a:r>
          </a:p>
          <a:p>
            <a:pPr>
              <a:spcAft>
                <a:spcPts val="800"/>
              </a:spcAft>
              <a:defRPr sz="1800"/>
            </a:pPr>
            <a:r>
              <a:t>Deposit = 75% of customer total | Final = total + post-trip − deposit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Calculations — Owner 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Owner commission = agreed base × 1.5% (configurable)</a:t>
            </a:r>
          </a:p>
          <a:p>
            <a:pPr>
              <a:spcAft>
                <a:spcPts val="800"/>
              </a:spcAft>
              <a:defRPr sz="1800"/>
            </a:pPr>
            <a:r>
              <a:t>Owner GST = agreed base × 18%</a:t>
            </a:r>
          </a:p>
          <a:p>
            <a:pPr>
              <a:spcAft>
                <a:spcPts val="800"/>
              </a:spcAft>
              <a:defRPr sz="1800"/>
            </a:pPr>
            <a:r>
              <a:t>Owner net = agreed base − owner commission − owner GST</a:t>
            </a:r>
          </a:p>
          <a:p>
            <a:pPr>
              <a:spcAft>
                <a:spcPts val="800"/>
              </a:spcAft>
              <a:defRPr sz="1800"/>
            </a:pPr>
            <a:r>
              <a:t>Projected payout = owner net + post-trip charges (until fully paid)</a:t>
            </a:r>
          </a:p>
          <a:p>
            <a:pPr>
              <a:spcAft>
                <a:spcPts val="800"/>
              </a:spcAft>
              <a:defRPr sz="1800"/>
            </a:pPr>
            <a:r>
              <a:t>Listing per-hour/per-km prices are hints only — not used in settlement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Example (₹1000/day × 2 days)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Agreed base: ₹2,000.00</a:t>
            </a:r>
          </a:p>
          <a:p>
            <a:pPr>
              <a:spcAft>
                <a:spcPts val="800"/>
              </a:spcAft>
              <a:defRPr sz="1800"/>
            </a:pPr>
            <a:r>
              <a:t>Customer total: ₹2,407.20 (2% fee + 18% GST on base+fee)</a:t>
            </a:r>
          </a:p>
          <a:p>
            <a:pPr>
              <a:spcAft>
                <a:spcPts val="800"/>
              </a:spcAft>
              <a:defRPr sz="1800"/>
            </a:pPr>
            <a:r>
              <a:t>Deposit (75%): ₹1,805.40</a:t>
            </a:r>
          </a:p>
          <a:p>
            <a:pPr>
              <a:spcAft>
                <a:spcPts val="800"/>
              </a:spcAft>
              <a:defRPr sz="1800"/>
            </a:pPr>
            <a:r>
              <a:t>Owner net: ₹1,610.00 (1.5% fee + 18% GST on base)</a:t>
            </a:r>
          </a:p>
          <a:p>
            <a:pPr>
              <a:spcAft>
                <a:spcPts val="800"/>
              </a:spcAft>
              <a:defRPr sz="1800"/>
            </a:pPr>
            <a:r>
              <a:t>If post-trip charges ₹500 → final due: ₹1,101.80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Key Validations — Customer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KYC verified + driving license before booking</a:t>
            </a:r>
          </a:p>
          <a:p>
            <a:pPr>
              <a:spcAft>
                <a:spcPts val="800"/>
              </a:spcAft>
              <a:defRPr sz="1800"/>
            </a:pPr>
            <a:r>
              <a:t>acknowledged_deposit_terms on create</a:t>
            </a:r>
          </a:p>
          <a:p>
            <a:pPr>
              <a:spcAft>
                <a:spcPts val="800"/>
              </a:spcAft>
              <a:defRPr sz="1800"/>
            </a:pPr>
            <a:r>
              <a:t>No overlapping bookings; cannot book own car</a:t>
            </a:r>
          </a:p>
          <a:p>
            <a:pPr>
              <a:spcAft>
                <a:spcPts val="800"/>
              </a:spcAft>
              <a:defRPr sz="1800"/>
            </a:pPr>
            <a:r>
              <a:t>Accept price only after owner sets final_booking_price</a:t>
            </a:r>
          </a:p>
          <a:p>
            <a:pPr>
              <a:spcAft>
                <a:spcPts val="800"/>
              </a:spcAft>
              <a:defRPr sz="1800"/>
            </a:pPr>
            <a:r>
              <a:t>Final pay only when status FINAL_DUE (post-trip charges submitted)</a:t>
            </a:r>
          </a:p>
          <a:p>
            <a:pPr>
              <a:spcAft>
                <a:spcPts val="800"/>
              </a:spcAft>
              <a:defRPr sz="1800"/>
            </a:pPr>
            <a:r>
              <a:t>Handover: odometer 1–2M km; return ≥ pickup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Key Validations — Owner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KYC verified for fleet and booking management routes</a:t>
            </a:r>
          </a:p>
          <a:p>
            <a:pPr>
              <a:spcAft>
                <a:spcPts val="800"/>
              </a:spcAft>
              <a:defRPr sz="1800"/>
            </a:pPr>
            <a:r>
              <a:t>Car: fuel/transmission/year/seats/airbag rules</a:t>
            </a:r>
          </a:p>
          <a:p>
            <a:pPr>
              <a:spcAft>
                <a:spcPts val="800"/>
              </a:spcAft>
              <a:defRPr sz="1800"/>
            </a:pPr>
            <a:r>
              <a:t>Cannot edit car booked for current UTC day</a:t>
            </a:r>
          </a:p>
          <a:p>
            <a:pPr>
              <a:spcAft>
                <a:spcPts val="800"/>
              </a:spcAft>
              <a:defRPr sz="1800"/>
            </a:pPr>
            <a:r>
              <a:t>Confirm only after customer accepted price</a:t>
            </a:r>
          </a:p>
          <a:p>
            <a:pPr>
              <a:spcAft>
                <a:spcPts val="800"/>
              </a:spcAft>
              <a:defRPr sz="1800"/>
            </a:pPr>
            <a:r>
              <a:t>Post-trip: max 30 lines, total ≤ ₹20 lakh, after customer return</a:t>
            </a:r>
          </a:p>
          <a:p>
            <a:pPr>
              <a:spcAft>
                <a:spcPts val="800"/>
              </a:spcAft>
              <a:defRPr sz="1800"/>
            </a:pPr>
            <a:r>
              <a:t>Accept return only after payment PAID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Trip Handover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1. Awaiting owner handover (after deposit)</a:t>
            </a:r>
          </a:p>
          <a:p>
            <a:pPr>
              <a:spcAft>
                <a:spcPts val="800"/>
              </a:spcAft>
              <a:defRPr sz="1800"/>
            </a:pPr>
            <a:r>
              <a:t>2. Awaiting customer pickup</a:t>
            </a:r>
          </a:p>
          <a:p>
            <a:pPr>
              <a:spcAft>
                <a:spcPts val="800"/>
              </a:spcAft>
              <a:defRPr sz="1800"/>
            </a:pPr>
            <a:r>
              <a:t>3. On trip</a:t>
            </a:r>
          </a:p>
          <a:p>
            <a:pPr>
              <a:spcAft>
                <a:spcPts val="800"/>
              </a:spcAft>
              <a:defRPr sz="1800"/>
            </a:pPr>
            <a:r>
              <a:t>4. Awaiting customer return</a:t>
            </a:r>
          </a:p>
          <a:p>
            <a:pPr>
              <a:spcAft>
                <a:spcPts val="800"/>
              </a:spcAft>
              <a:defRPr sz="1800"/>
            </a:pPr>
            <a:r>
              <a:t>5. Awaiting post-trip charges (owner)</a:t>
            </a:r>
          </a:p>
          <a:p>
            <a:pPr>
              <a:spcAft>
                <a:spcPts val="800"/>
              </a:spcAft>
              <a:defRPr sz="1800"/>
            </a:pPr>
            <a:r>
              <a:t>6. Awaiting final payment (customer)</a:t>
            </a:r>
          </a:p>
          <a:p>
            <a:pPr>
              <a:spcAft>
                <a:spcPts val="800"/>
              </a:spcAft>
              <a:defRPr sz="1800"/>
            </a:pPr>
            <a:r>
              <a:t>7. Awaiting owner return acceptance</a:t>
            </a:r>
          </a:p>
          <a:p>
            <a:pPr>
              <a:spcAft>
                <a:spcPts val="800"/>
              </a:spcAft>
              <a:defRPr sz="1800"/>
            </a:pPr>
            <a:r>
              <a:t>8. Trip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